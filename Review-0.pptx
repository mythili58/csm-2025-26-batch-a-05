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48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237" y="6642827"/>
            <a:ext cx="5654040" cy="215265"/>
          </a:xfrm>
          <a:custGeom>
            <a:avLst/>
            <a:gdLst/>
            <a:ahLst/>
            <a:cxnLst/>
            <a:rect l="l" t="t" r="r" b="b"/>
            <a:pathLst>
              <a:path w="5654040" h="215265">
                <a:moveTo>
                  <a:pt x="5654038" y="215169"/>
                </a:moveTo>
                <a:lnTo>
                  <a:pt x="0" y="215169"/>
                </a:lnTo>
                <a:lnTo>
                  <a:pt x="0" y="0"/>
                </a:lnTo>
                <a:lnTo>
                  <a:pt x="5654038" y="0"/>
                </a:lnTo>
                <a:lnTo>
                  <a:pt x="5654038" y="21516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276" y="6641865"/>
            <a:ext cx="5323205" cy="216535"/>
          </a:xfrm>
          <a:custGeom>
            <a:avLst/>
            <a:gdLst/>
            <a:ahLst/>
            <a:cxnLst/>
            <a:rect l="l" t="t" r="r" b="b"/>
            <a:pathLst>
              <a:path w="5323205" h="216534">
                <a:moveTo>
                  <a:pt x="5322915" y="216134"/>
                </a:moveTo>
                <a:lnTo>
                  <a:pt x="0" y="216134"/>
                </a:lnTo>
                <a:lnTo>
                  <a:pt x="0" y="0"/>
                </a:lnTo>
                <a:lnTo>
                  <a:pt x="5322915" y="0"/>
                </a:lnTo>
                <a:lnTo>
                  <a:pt x="5322915" y="216134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194" y="6641864"/>
            <a:ext cx="438150" cy="216535"/>
          </a:xfrm>
          <a:custGeom>
            <a:avLst/>
            <a:gdLst/>
            <a:ahLst/>
            <a:cxnLst/>
            <a:rect l="l" t="t" r="r" b="b"/>
            <a:pathLst>
              <a:path w="438150" h="216534">
                <a:moveTo>
                  <a:pt x="437802" y="216132"/>
                </a:moveTo>
                <a:lnTo>
                  <a:pt x="0" y="216132"/>
                </a:lnTo>
                <a:lnTo>
                  <a:pt x="0" y="0"/>
                </a:lnTo>
                <a:lnTo>
                  <a:pt x="437802" y="0"/>
                </a:lnTo>
                <a:lnTo>
                  <a:pt x="437802" y="21613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200" y="5956065"/>
            <a:ext cx="685798" cy="68164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827"/>
            <a:ext cx="777240" cy="215265"/>
          </a:xfrm>
          <a:custGeom>
            <a:avLst/>
            <a:gdLst/>
            <a:ahLst/>
            <a:cxnLst/>
            <a:rect l="l" t="t" r="r" b="b"/>
            <a:pathLst>
              <a:path w="777240" h="215265">
                <a:moveTo>
                  <a:pt x="777237" y="215169"/>
                </a:moveTo>
                <a:lnTo>
                  <a:pt x="0" y="215169"/>
                </a:lnTo>
                <a:lnTo>
                  <a:pt x="0" y="0"/>
                </a:lnTo>
                <a:lnTo>
                  <a:pt x="777237" y="0"/>
                </a:lnTo>
                <a:lnTo>
                  <a:pt x="777237" y="21516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-1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997" y="232757"/>
                </a:moveTo>
                <a:lnTo>
                  <a:pt x="0" y="232757"/>
                </a:lnTo>
                <a:lnTo>
                  <a:pt x="0" y="0"/>
                </a:lnTo>
                <a:lnTo>
                  <a:pt x="12191997" y="0"/>
                </a:lnTo>
                <a:lnTo>
                  <a:pt x="12191997" y="232757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-76122"/>
            <a:ext cx="394652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2529" y="1071015"/>
            <a:ext cx="11534140" cy="2355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22363" y="6630698"/>
            <a:ext cx="4433061" cy="25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33423" y="6630606"/>
            <a:ext cx="254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109/TQE.2023.332971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x.doi.org/10.1007/s11082-022-04303-5" TargetMode="External"/><Relationship Id="rId5" Type="http://schemas.openxmlformats.org/officeDocument/2006/relationships/hyperlink" Target="http://dx.doi.org/10.1109/ACCESS.2024.3504815" TargetMode="External"/><Relationship Id="rId4" Type="http://schemas.openxmlformats.org/officeDocument/2006/relationships/hyperlink" Target="http://dx.doi.org/10.1109/TQE.2024.346457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37" y="6634571"/>
            <a:ext cx="11414760" cy="223520"/>
            <a:chOff x="777237" y="6634571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37" y="6634571"/>
              <a:ext cx="5782310" cy="220979"/>
            </a:xfrm>
            <a:custGeom>
              <a:avLst/>
              <a:gdLst/>
              <a:ahLst/>
              <a:cxnLst/>
              <a:rect l="l" t="t" r="r" b="b"/>
              <a:pathLst>
                <a:path w="5782309" h="220979">
                  <a:moveTo>
                    <a:pt x="5781821" y="220978"/>
                  </a:moveTo>
                  <a:lnTo>
                    <a:pt x="0" y="220978"/>
                  </a:lnTo>
                  <a:lnTo>
                    <a:pt x="0" y="0"/>
                  </a:lnTo>
                  <a:lnTo>
                    <a:pt x="5781821" y="0"/>
                  </a:lnTo>
                  <a:lnTo>
                    <a:pt x="5781821" y="220978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9061" y="6634571"/>
              <a:ext cx="5195570" cy="220979"/>
            </a:xfrm>
            <a:custGeom>
              <a:avLst/>
              <a:gdLst/>
              <a:ahLst/>
              <a:cxnLst/>
              <a:rect l="l" t="t" r="r" b="b"/>
              <a:pathLst>
                <a:path w="5195570" h="220979">
                  <a:moveTo>
                    <a:pt x="5195132" y="220978"/>
                  </a:moveTo>
                  <a:lnTo>
                    <a:pt x="0" y="220978"/>
                  </a:lnTo>
                  <a:lnTo>
                    <a:pt x="0" y="0"/>
                  </a:lnTo>
                  <a:lnTo>
                    <a:pt x="5195132" y="0"/>
                  </a:lnTo>
                  <a:lnTo>
                    <a:pt x="5195132" y="220978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195" y="6637019"/>
              <a:ext cx="438150" cy="220979"/>
            </a:xfrm>
            <a:custGeom>
              <a:avLst/>
              <a:gdLst/>
              <a:ahLst/>
              <a:cxnLst/>
              <a:rect l="l" t="t" r="r" b="b"/>
              <a:pathLst>
                <a:path w="438150" h="220979">
                  <a:moveTo>
                    <a:pt x="437803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437803" y="0"/>
                  </a:lnTo>
                  <a:lnTo>
                    <a:pt x="437803" y="2209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-1" y="-1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997" y="232757"/>
                </a:moveTo>
                <a:lnTo>
                  <a:pt x="0" y="232757"/>
                </a:lnTo>
                <a:lnTo>
                  <a:pt x="0" y="0"/>
                </a:lnTo>
                <a:lnTo>
                  <a:pt x="12191997" y="0"/>
                </a:lnTo>
                <a:lnTo>
                  <a:pt x="12191997" y="232757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Secure Quantum Communication With Multi-Users in Quantum Networks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-439" y="6634571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7237" y="221521"/>
                </a:moveTo>
                <a:lnTo>
                  <a:pt x="0" y="221521"/>
                </a:lnTo>
                <a:lnTo>
                  <a:pt x="0" y="0"/>
                </a:lnTo>
                <a:lnTo>
                  <a:pt x="777237" y="0"/>
                </a:lnTo>
                <a:lnTo>
                  <a:pt x="777237" y="221521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5600" y="1688369"/>
            <a:ext cx="1986914" cy="59436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lang="en-IN" sz="2400" dirty="0">
                <a:latin typeface="Times New Roman"/>
                <a:cs typeface="Times New Roman"/>
              </a:rPr>
              <a:t>Y. Mythili</a:t>
            </a:r>
            <a:endParaRPr sz="2400" dirty="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85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lang="en-IN" sz="1100" spc="-15" dirty="0">
                <a:latin typeface="Times New Roman"/>
                <a:cs typeface="Times New Roman"/>
              </a:rPr>
              <a:t>224G1A3358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6566" y="2464691"/>
            <a:ext cx="16186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2796" y="2811535"/>
            <a:ext cx="520358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GB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Mr. K. Venkatesh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Tech. (Ph.D.) 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47013" y="3185287"/>
            <a:ext cx="163385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5" baseline="1984" dirty="0">
                <a:latin typeface="Times New Roman"/>
                <a:cs typeface="Times New Roman"/>
              </a:rPr>
              <a:t>Assistant </a:t>
            </a:r>
            <a:r>
              <a:rPr lang="en-IN" sz="2100" spc="7" baseline="1984" dirty="0">
                <a:latin typeface="Times New Roman"/>
                <a:cs typeface="Times New Roman"/>
              </a:rPr>
              <a:t>Professor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6979" y="5096630"/>
            <a:ext cx="6709409" cy="140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latin typeface="Times New Roman"/>
                <a:cs typeface="Times New Roman"/>
              </a:rPr>
              <a:t>Department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Science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Engineering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(AI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&amp;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ML)</a:t>
            </a:r>
            <a:endParaRPr sz="18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29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29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29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9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2900" dirty="0">
              <a:latin typeface="Times New Roman"/>
              <a:cs typeface="Times New Roman"/>
            </a:endParaRPr>
          </a:p>
          <a:p>
            <a:pPr marL="13970" algn="ctr">
              <a:lnSpc>
                <a:spcPct val="100000"/>
              </a:lnSpc>
              <a:spcBef>
                <a:spcPts val="420"/>
              </a:spcBef>
            </a:pPr>
            <a:r>
              <a:rPr sz="950" b="1" dirty="0">
                <a:latin typeface="Times New Roman"/>
                <a:cs typeface="Times New Roman"/>
              </a:rPr>
              <a:t>(Affiliated</a:t>
            </a:r>
            <a:r>
              <a:rPr sz="950" b="1" spc="-2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to</a:t>
            </a:r>
            <a:r>
              <a:rPr sz="950" b="1" spc="-1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JNTUA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&amp;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Approved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by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AICTE)</a:t>
            </a:r>
            <a:r>
              <a:rPr sz="950" b="1" spc="-1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(Accredited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by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NAAC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with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‘A’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Grade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&amp;</a:t>
            </a:r>
            <a:r>
              <a:rPr sz="950" b="1" spc="-1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Accredited</a:t>
            </a:r>
            <a:r>
              <a:rPr sz="950" b="1" spc="-2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by</a:t>
            </a:r>
            <a:r>
              <a:rPr sz="950" b="1" spc="-1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NBA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(EEE,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ECE</a:t>
            </a:r>
            <a:r>
              <a:rPr sz="950" b="1" spc="-2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&amp;</a:t>
            </a:r>
            <a:r>
              <a:rPr sz="950" b="1" spc="-15" dirty="0">
                <a:latin typeface="Times New Roman"/>
                <a:cs typeface="Times New Roman"/>
              </a:rPr>
              <a:t> </a:t>
            </a:r>
            <a:r>
              <a:rPr sz="950" b="1" spc="-20" dirty="0">
                <a:latin typeface="Times New Roman"/>
                <a:cs typeface="Times New Roman"/>
              </a:rPr>
              <a:t>CSE)</a:t>
            </a:r>
            <a:endParaRPr sz="950" dirty="0">
              <a:latin typeface="Times New Roman"/>
              <a:cs typeface="Times New Roman"/>
            </a:endParaRPr>
          </a:p>
          <a:p>
            <a:pPr marL="10160" algn="ctr">
              <a:lnSpc>
                <a:spcPct val="100000"/>
              </a:lnSpc>
              <a:spcBef>
                <a:spcPts val="145"/>
              </a:spcBef>
            </a:pPr>
            <a:r>
              <a:rPr sz="1000" b="1" dirty="0">
                <a:latin typeface="Times New Roman"/>
                <a:cs typeface="Times New Roman"/>
              </a:rPr>
              <a:t>Rotarypuram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Village,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B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K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Samudram Mandal,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Ananthapuramu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–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515701.</a:t>
            </a:r>
            <a:endParaRPr sz="1000" dirty="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  <a:spcBef>
                <a:spcPts val="840"/>
              </a:spcBef>
            </a:pPr>
            <a:r>
              <a:rPr sz="1100" b="1" dirty="0">
                <a:solidFill>
                  <a:srgbClr val="1E4E78"/>
                </a:solidFill>
                <a:latin typeface="Times New Roman"/>
                <a:cs typeface="Times New Roman"/>
              </a:rPr>
              <a:t>2025 - </a:t>
            </a:r>
            <a:r>
              <a:rPr sz="11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2026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5727" y="1738438"/>
            <a:ext cx="2630846" cy="58862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lang="en-IN" sz="2400" dirty="0">
                <a:latin typeface="Times New Roman"/>
                <a:cs typeface="Times New Roman"/>
              </a:rPr>
              <a:t>P. Manoj Srivastav</a:t>
            </a:r>
            <a:endParaRPr sz="2400" dirty="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85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lang="en-IN" sz="1100" spc="-15" dirty="0">
                <a:latin typeface="Times New Roman"/>
                <a:cs typeface="Times New Roman"/>
              </a:rPr>
              <a:t>224G1A3351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78766" y="1696203"/>
            <a:ext cx="2457802" cy="58862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lang="en-IN" sz="2400" dirty="0">
                <a:latin typeface="Times New Roman"/>
                <a:cs typeface="Times New Roman"/>
              </a:rPr>
              <a:t>S. Mohammad Taz</a:t>
            </a:r>
            <a:endParaRPr sz="2400" dirty="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85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lang="en-IN" sz="1100" spc="-15" dirty="0">
                <a:latin typeface="Times New Roman"/>
                <a:cs typeface="Times New Roman"/>
              </a:rPr>
              <a:t>224G1A3356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6800" y="1698064"/>
            <a:ext cx="2307144" cy="58862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lang="en-US" sz="2400" dirty="0">
                <a:latin typeface="Times New Roman"/>
                <a:cs typeface="Times New Roman"/>
              </a:rPr>
              <a:t>M. Dileep Kumar</a:t>
            </a:r>
          </a:p>
          <a:p>
            <a:pPr marL="4445" algn="ctr">
              <a:lnSpc>
                <a:spcPct val="100000"/>
              </a:lnSpc>
              <a:spcBef>
                <a:spcPts val="85"/>
              </a:spcBef>
            </a:pPr>
            <a:r>
              <a:rPr lang="en-US" sz="1100" dirty="0">
                <a:latin typeface="Times New Roman"/>
                <a:cs typeface="Times New Roman"/>
              </a:rPr>
              <a:t>Roll</a:t>
            </a:r>
            <a:r>
              <a:rPr lang="en-US" sz="1100" spc="-25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No.</a:t>
            </a:r>
            <a:r>
              <a:rPr lang="en-US" sz="1100" spc="-15" dirty="0">
                <a:latin typeface="Times New Roman"/>
                <a:cs typeface="Times New Roman"/>
              </a:rPr>
              <a:t> 224G1A3320</a:t>
            </a:r>
            <a:endParaRPr lang="en-US" sz="1100" dirty="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7859" y="297171"/>
            <a:ext cx="10642600" cy="972185"/>
            <a:chOff x="697859" y="297171"/>
            <a:chExt cx="10642600" cy="97218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859" y="297171"/>
              <a:ext cx="10642481" cy="9721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5007" y="335269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1" y="857862"/>
                  </a:moveTo>
                  <a:lnTo>
                    <a:pt x="142979" y="857862"/>
                  </a:lnTo>
                  <a:lnTo>
                    <a:pt x="97786" y="850573"/>
                  </a:lnTo>
                  <a:lnTo>
                    <a:pt x="58536" y="830276"/>
                  </a:lnTo>
                  <a:lnTo>
                    <a:pt x="27585" y="799325"/>
                  </a:lnTo>
                  <a:lnTo>
                    <a:pt x="7288" y="760075"/>
                  </a:lnTo>
                  <a:lnTo>
                    <a:pt x="0" y="714882"/>
                  </a:lnTo>
                  <a:lnTo>
                    <a:pt x="0" y="142979"/>
                  </a:lnTo>
                  <a:lnTo>
                    <a:pt x="7288" y="97786"/>
                  </a:lnTo>
                  <a:lnTo>
                    <a:pt x="27585" y="58536"/>
                  </a:lnTo>
                  <a:lnTo>
                    <a:pt x="58536" y="27585"/>
                  </a:lnTo>
                  <a:lnTo>
                    <a:pt x="97786" y="7288"/>
                  </a:lnTo>
                  <a:lnTo>
                    <a:pt x="142979" y="0"/>
                  </a:lnTo>
                  <a:lnTo>
                    <a:pt x="10385201" y="0"/>
                  </a:lnTo>
                  <a:lnTo>
                    <a:pt x="10439917" y="10882"/>
                  </a:lnTo>
                  <a:lnTo>
                    <a:pt x="10486303" y="41876"/>
                  </a:lnTo>
                  <a:lnTo>
                    <a:pt x="10517298" y="88263"/>
                  </a:lnTo>
                  <a:lnTo>
                    <a:pt x="10528182" y="142979"/>
                  </a:lnTo>
                  <a:lnTo>
                    <a:pt x="10528182" y="714882"/>
                  </a:lnTo>
                  <a:lnTo>
                    <a:pt x="10520894" y="760075"/>
                  </a:lnTo>
                  <a:lnTo>
                    <a:pt x="10500595" y="799325"/>
                  </a:lnTo>
                  <a:lnTo>
                    <a:pt x="10469644" y="830276"/>
                  </a:lnTo>
                  <a:lnTo>
                    <a:pt x="10430394" y="850573"/>
                  </a:lnTo>
                  <a:lnTo>
                    <a:pt x="10385201" y="85786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066801" y="397813"/>
            <a:ext cx="1027353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cap="all" dirty="0"/>
              <a:t>Secure Quantum Communication With Multi-Users in     Quantum Networks</a:t>
            </a:r>
            <a:endParaRPr lang="en-IN" sz="2400" dirty="0"/>
          </a:p>
        </p:txBody>
      </p:sp>
      <p:sp>
        <p:nvSpPr>
          <p:cNvPr id="20" name="object 20"/>
          <p:cNvSpPr txBox="1"/>
          <p:nvPr/>
        </p:nvSpPr>
        <p:spPr>
          <a:xfrm>
            <a:off x="5987419" y="1267665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105" y="3477045"/>
            <a:ext cx="1843672" cy="168548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38200" y="6608964"/>
            <a:ext cx="471722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cap="small" spc="-75" dirty="0">
                <a:solidFill>
                  <a:srgbClr val="FFFFFF"/>
                </a:solidFill>
                <a:latin typeface="Times New Roman"/>
                <a:cs typeface="Times New Roman"/>
              </a:rPr>
              <a:t>Dept.</a:t>
            </a:r>
            <a:r>
              <a:rPr sz="1600" cap="small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95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1600" cap="small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3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cap="small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1600" cap="small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(AI&amp;</a:t>
            </a:r>
            <a:r>
              <a:rPr lang="en-IN" sz="16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ML</a:t>
            </a:r>
            <a:r>
              <a:rPr sz="16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59061" y="6571970"/>
            <a:ext cx="519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800" cap="small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cap="small" spc="-13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800" cap="small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8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cap="small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cap="small" spc="-14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8400" y="-69647"/>
            <a:ext cx="8001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i="1" dirty="0">
                <a:solidFill>
                  <a:srgbClr val="FFFFFF"/>
                </a:solidFill>
                <a:latin typeface="Times New Roman"/>
                <a:cs typeface="Times New Roman"/>
              </a:rPr>
              <a:t>Secure Quantum Communication With Multi-Users in Quantum Networks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20176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203666"/>
            <a:ext cx="3946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0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51260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12600" y="6630606"/>
            <a:ext cx="127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600" b="1" spc="-50" dirty="0">
                <a:solidFill>
                  <a:srgbClr val="002060"/>
                </a:solidFill>
                <a:latin typeface="Times New Roman"/>
                <a:cs typeface="Times New Roman"/>
              </a:rPr>
              <a:t>2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9329" y="6652741"/>
            <a:ext cx="462067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174" y="1091055"/>
            <a:ext cx="2816225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680"/>
              </a:spcBef>
              <a:buChar char="•"/>
              <a:tabLst>
                <a:tab pos="367030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 dirty="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680"/>
              </a:spcBef>
              <a:buChar char="•"/>
              <a:tabLst>
                <a:tab pos="367030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survey</a:t>
            </a:r>
            <a:endParaRPr sz="2800" dirty="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680"/>
              </a:spcBef>
              <a:buChar char="•"/>
              <a:tabLst>
                <a:tab pos="367030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Work</a:t>
            </a:r>
            <a:endParaRPr sz="2800" dirty="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680"/>
              </a:spcBef>
              <a:buChar char="•"/>
              <a:tabLst>
                <a:tab pos="36703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680"/>
              </a:spcBef>
              <a:buChar char="•"/>
              <a:tabLst>
                <a:tab pos="367030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680"/>
              </a:spcBef>
              <a:buChar char="•"/>
              <a:tabLst>
                <a:tab pos="367030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DC63-FEB3-45F9-1094-E6FB5135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6053A23-3324-2D5B-70E0-8AFAE296DB73}"/>
              </a:ext>
            </a:extLst>
          </p:cNvPr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52D4678-1755-E5EE-CCE0-7FBFE1CC96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CDEB4CA-D63D-7604-7DD9-2C9D2C72EAE4}"/>
                </a:ext>
              </a:extLst>
            </p:cNvPr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9644814-A260-CF55-8117-607FEB8E6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9174" y="232759"/>
            <a:ext cx="3946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Abstract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3702988-DC39-F549-8C33-453614BAE8C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0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89B82D0-6CB8-8F9D-6D2F-9D0CFFC6D18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51260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26490BB-D892-E669-0480-712B839C33B1}"/>
              </a:ext>
            </a:extLst>
          </p:cNvPr>
          <p:cNvSpPr txBox="1"/>
          <p:nvPr/>
        </p:nvSpPr>
        <p:spPr>
          <a:xfrm>
            <a:off x="11909611" y="6630606"/>
            <a:ext cx="127000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b="1" spc="-50" dirty="0">
                <a:solidFill>
                  <a:srgbClr val="002060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9097A32-DFC0-441D-834F-6C8EEA83A85B}"/>
              </a:ext>
            </a:extLst>
          </p:cNvPr>
          <p:cNvSpPr txBox="1"/>
          <p:nvPr/>
        </p:nvSpPr>
        <p:spPr>
          <a:xfrm>
            <a:off x="6809329" y="6652741"/>
            <a:ext cx="462067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75A9D2F-D7FC-E47B-ED7F-FB1FAA076837}"/>
              </a:ext>
            </a:extLst>
          </p:cNvPr>
          <p:cNvSpPr txBox="1"/>
          <p:nvPr/>
        </p:nvSpPr>
        <p:spPr>
          <a:xfrm>
            <a:off x="337898" y="1219200"/>
            <a:ext cx="11516200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quantum communication has enabled secure data transfer, but achieving scalable multi-user communication remains a challenge. This project proposes a secure multi-user quantum communication framework that integrates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Key Distribution (QKD)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advanced encryption and post-quantum cryptographic techniques. The system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classical-quantum multiple access methods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multiple users efficiently while maintaining high performance. Security is enhanced 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MUQPQ and MUQQ-ESTMP GHZ-based protocols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authenticated key sharing and resistance to eavesdropping.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Lattice-based cryptography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incorporated to address threats from quantum computers, while real-time monitoring is performed using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RRA-BIAWGNC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Overall, the framework improves scalability, security, and reliability, offering a future-ready solution for multi-user quantum networks.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ACF38-8CB4-5094-A5EB-0F08180ABE5A}"/>
              </a:ext>
            </a:extLst>
          </p:cNvPr>
          <p:cNvSpPr txBox="1"/>
          <p:nvPr/>
        </p:nvSpPr>
        <p:spPr>
          <a:xfrm>
            <a:off x="1676400" y="-89714"/>
            <a:ext cx="8230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Secure Quantum Communication With Multi-Users in Quantum Networks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887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4198" y="259602"/>
            <a:ext cx="3946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7450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30609"/>
            <a:ext cx="39776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41783" y="944697"/>
            <a:ext cx="12191998" cy="613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communication allows secure data transfer by using principles of quantum technology.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Key Distribution (QKD) provides highly secure key sharing, but most current systems only support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users at a time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limits their use in large networks.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networks expand, there is a growing need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quantum communication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support many users securely and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systems face challenges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management, channel noise, and protection against attacks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from future quantum computers.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access methods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scalability, performance, and long-term security.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design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multi-user quantum communication framework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future quantum networks.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3D3896-7D9A-95DB-340B-D5D483BC476B}"/>
              </a:ext>
            </a:extLst>
          </p:cNvPr>
          <p:cNvSpPr txBox="1"/>
          <p:nvPr/>
        </p:nvSpPr>
        <p:spPr>
          <a:xfrm>
            <a:off x="1373162" y="-112516"/>
            <a:ext cx="8988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Secure Quantum Communication With Multi-Users in Quantum Networks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8125" y="224337"/>
            <a:ext cx="3946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50" dirty="0"/>
              <a:t> </a:t>
            </a:r>
            <a:r>
              <a:rPr spc="-10" dirty="0"/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8974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30609"/>
            <a:ext cx="42062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9E4A84CE-B126-8D85-7BF1-A6717EF3E0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1036550"/>
            <a:ext cx="11201400" cy="544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53DBCF4-78AE-78EE-54F0-C27473E1A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87D2A-69C2-E3A0-17D0-47549D20BF41}"/>
              </a:ext>
            </a:extLst>
          </p:cNvPr>
          <p:cNvSpPr txBox="1"/>
          <p:nvPr/>
        </p:nvSpPr>
        <p:spPr>
          <a:xfrm>
            <a:off x="2211387" y="-69666"/>
            <a:ext cx="8222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Secure Quantum Communication With Multi-Users in Quantum Networks</a:t>
            </a:r>
            <a:endParaRPr lang="en-US" sz="1800" dirty="0">
              <a:latin typeface="Times New Roman"/>
              <a:cs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BBA381-7F00-2B5C-EB0B-3A21C9989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3" y="1073905"/>
            <a:ext cx="11945640" cy="5484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8998" y="232759"/>
            <a:ext cx="55657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lang="en-IN" spc="-10" dirty="0"/>
              <a:t> Work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9736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30609"/>
            <a:ext cx="42824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46780" y="1036550"/>
            <a:ext cx="12050217" cy="558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Multi-User Quantum Key Distribution Using MUQPQ and MUQQ-ESTMP GHZ Protocols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Quantum Protocol (MUQPQ)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MUQQ-ESTMP GHZ-based schemes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secure key sharing among multiple users, ensuring authenticated and coordinated communication across the network.</a:t>
            </a: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Efficient Multi-User Communication Using Classical–Quantum Multiple Access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access techniques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efficiently manage simultaneous communication between users, improving network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scalability, and resource utilization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quantum channels.</a:t>
            </a: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Post-Quantum Security Using Lattice-Based Cryptography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lattice-based cryptography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secure transmitted data against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attacks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long-term computational security in addition to QKD-based security.</a:t>
            </a: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Real-Time Attack Detection Using RRA-BIAWGNC Algorithm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Reconciliation Algorithm for Binary-Input Additive White Gaussian Noise Channel (RRA-BIAWGNC)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continuously monitor channel noise, identify possible eavesdropping, and provide real-time threat detection.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D3358-8B13-05F4-D7BE-B710E12B0683}"/>
              </a:ext>
            </a:extLst>
          </p:cNvPr>
          <p:cNvSpPr txBox="1"/>
          <p:nvPr/>
        </p:nvSpPr>
        <p:spPr>
          <a:xfrm>
            <a:off x="2106772" y="-30296"/>
            <a:ext cx="7961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Secure Quantum Communication With Multi-Users in Quantum Networks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3400" y="198129"/>
            <a:ext cx="3946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9736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30609"/>
            <a:ext cx="42824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14198" y="1319102"/>
            <a:ext cx="11534140" cy="3490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2000" dirty="0"/>
              <a:t>E. Sutcliffe and A. </a:t>
            </a:r>
            <a:r>
              <a:rPr lang="en-IN" sz="2000" dirty="0" err="1"/>
              <a:t>Beghelli</a:t>
            </a:r>
            <a:r>
              <a:rPr lang="en-IN" sz="2000" dirty="0"/>
              <a:t>, “Multi-user entanglement distribution in quantum networks using multipath routing,” </a:t>
            </a:r>
            <a:r>
              <a:rPr lang="en-IN" sz="2000" i="1" dirty="0"/>
              <a:t>IEEE Trans. Quantum Eng.</a:t>
            </a:r>
            <a:r>
              <a:rPr lang="en-IN" sz="2000" dirty="0"/>
              <a:t>, vol. 4, Art. no. 4101015, Dec. 2023, </a:t>
            </a:r>
            <a:r>
              <a:rPr lang="en-IN" sz="2000" dirty="0" err="1"/>
              <a:t>doi</a:t>
            </a:r>
            <a:r>
              <a:rPr lang="en-IN" sz="2000" dirty="0"/>
              <a:t>: </a:t>
            </a:r>
            <a:r>
              <a:rPr lang="en-IN" sz="2000" dirty="0">
                <a:hlinkClick r:id="rId3"/>
              </a:rPr>
              <a:t>10.1109/TQE.2023.3329714.</a:t>
            </a:r>
            <a:endParaRPr lang="en-IN" sz="2000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2000" dirty="0"/>
              <a:t>M. Shaban, M. Ismail, and W. Saad, “SPARQ: Efficient entanglement distribution and routing in space-air-ground quantum networks,” </a:t>
            </a:r>
            <a:r>
              <a:rPr lang="en-IN" sz="2000" i="1" dirty="0"/>
              <a:t>IEEE Trans. Quantum Eng.</a:t>
            </a:r>
            <a:r>
              <a:rPr lang="en-IN" sz="2000" dirty="0"/>
              <a:t>, vol. 4, Art. no. 4101020, Sep.2024, </a:t>
            </a:r>
            <a:r>
              <a:rPr lang="en-IN" sz="2000" dirty="0" err="1"/>
              <a:t>doi</a:t>
            </a:r>
            <a:r>
              <a:rPr lang="en-IN" sz="2000" dirty="0"/>
              <a:t>: </a:t>
            </a:r>
            <a:r>
              <a:rPr lang="en-IN" sz="2000" dirty="0">
                <a:hlinkClick r:id="rId4"/>
              </a:rPr>
              <a:t>10.1109/TQE.2024.3464572.</a:t>
            </a:r>
            <a:endParaRPr lang="en-IN" sz="2000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000" dirty="0"/>
              <a:t>M. Imran, A. B. Altamimi, W. Khan, S. Hussain, and M. Alsaffar, “Quantum cryptography for future networks security: A systematic review,” </a:t>
            </a:r>
            <a:r>
              <a:rPr lang="en-IN" sz="2000" i="1" dirty="0"/>
              <a:t>IEEE Access</a:t>
            </a:r>
            <a:r>
              <a:rPr lang="en-IN" sz="2000" dirty="0"/>
              <a:t>, vol. 12, pp. 180048–180078, 2024, </a:t>
            </a:r>
            <a:r>
              <a:rPr lang="en-IN" sz="2000" dirty="0" err="1"/>
              <a:t>doi</a:t>
            </a:r>
            <a:r>
              <a:rPr lang="en-IN" sz="2000" dirty="0"/>
              <a:t>: </a:t>
            </a:r>
            <a:r>
              <a:rPr lang="en-IN" sz="2000" dirty="0">
                <a:hlinkClick r:id="rId5"/>
              </a:rPr>
              <a:t>10.1109/ACCESS.2024.3504815.</a:t>
            </a: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dirty="0"/>
              <a:t>[4] M. Mastriani, “Quantum key secure communication protocol via enhanced superdense coding,” </a:t>
            </a:r>
            <a:r>
              <a:rPr lang="en-IN" sz="2000" i="1" dirty="0"/>
              <a:t>Opt. Quant. Electron.</a:t>
            </a:r>
            <a:r>
              <a:rPr lang="en-IN" sz="2000" dirty="0"/>
              <a:t>, vol. 55, no. 1, p. 10. 2023, </a:t>
            </a:r>
            <a:r>
              <a:rPr lang="en-IN" sz="2000" dirty="0" err="1"/>
              <a:t>doi</a:t>
            </a:r>
            <a:r>
              <a:rPr lang="en-IN" sz="2000" dirty="0"/>
              <a:t>: </a:t>
            </a:r>
            <a:r>
              <a:rPr lang="en-IN" sz="2000" dirty="0">
                <a:hlinkClick r:id="rId6"/>
              </a:rPr>
              <a:t>10.1007/s11082-022-04303-5.</a:t>
            </a:r>
            <a:endParaRPr lang="en-IN" sz="2000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B937A-54FB-D01C-DAF2-8239A3A5B8BD}"/>
              </a:ext>
            </a:extLst>
          </p:cNvPr>
          <p:cNvSpPr txBox="1"/>
          <p:nvPr/>
        </p:nvSpPr>
        <p:spPr>
          <a:xfrm>
            <a:off x="2743200" y="-83444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Quantum Communication With Multi-Users in Quantum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216249"/>
            <a:ext cx="12192001" cy="803791"/>
            <a:chOff x="-2" y="216249"/>
            <a:chExt cx="12192001" cy="80379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1999" cy="8037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8" y="714890"/>
                  </a:moveTo>
                  <a:lnTo>
                    <a:pt x="0" y="714890"/>
                  </a:lnTo>
                  <a:lnTo>
                    <a:pt x="0" y="0"/>
                  </a:lnTo>
                  <a:lnTo>
                    <a:pt x="12191998" y="0"/>
                  </a:lnTo>
                  <a:lnTo>
                    <a:pt x="12191998" y="7148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64699" y="233135"/>
            <a:ext cx="5084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Times New Roman"/>
                <a:cs typeface="Times New Roman"/>
              </a:rPr>
              <a:t>Git</a:t>
            </a:r>
            <a:r>
              <a:rPr sz="4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lang="en-IN" sz="4400" dirty="0">
                <a:solidFill>
                  <a:srgbClr val="FFFFFF"/>
                </a:solidFill>
                <a:latin typeface="Times New Roman"/>
                <a:cs typeface="Times New Roman"/>
              </a:rPr>
              <a:t> Link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67000" y="-50393"/>
            <a:ext cx="726771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Quantum Communication With Multi-Users in Quantum Networks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7450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47577" y="6630609"/>
            <a:ext cx="41300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5AFC39-A204-FDE7-47C9-91C41B865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68" y="1296522"/>
            <a:ext cx="10411463" cy="4612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9736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47577" y="6630609"/>
            <a:ext cx="42824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6638" y="2300359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1783" y="6631089"/>
            <a:ext cx="544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A - 05</a:t>
            </a:r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122363" y="6630698"/>
            <a:ext cx="48449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4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0" dirty="0"/>
              <a:t> </a:t>
            </a:r>
            <a:r>
              <a:rPr cap="small" spc="-110" dirty="0"/>
              <a:t>Engineering</a:t>
            </a:r>
            <a:r>
              <a:rPr cap="small" spc="50" dirty="0"/>
              <a:t> </a:t>
            </a:r>
            <a:r>
              <a:rPr cap="small" spc="-60" dirty="0"/>
              <a:t>(AI&amp;ml)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47577" y="6630609"/>
            <a:ext cx="42824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9548" y="2133600"/>
            <a:ext cx="7391400" cy="14869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000"/>
              </a:lnSpc>
              <a:spcBef>
                <a:spcPts val="100"/>
              </a:spcBef>
            </a:pP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Thank</a:t>
            </a:r>
            <a:r>
              <a:rPr lang="en-IN" sz="9600" i="1" spc="-10" dirty="0">
                <a:solidFill>
                  <a:srgbClr val="FF6600"/>
                </a:solidFill>
              </a:rPr>
              <a:t> You!!!</a:t>
            </a:r>
            <a:endParaRPr sz="9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1026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Secure Quantum Communication With Multi-Users in     Quantum Networks</vt:lpstr>
      <vt:lpstr>Contents</vt:lpstr>
      <vt:lpstr>Abstract</vt:lpstr>
      <vt:lpstr>Introduction</vt:lpstr>
      <vt:lpstr>Literature Survey</vt:lpstr>
      <vt:lpstr>Proposed Work</vt:lpstr>
      <vt:lpstr>Reference</vt:lpstr>
      <vt:lpstr>Secure Quantum Communication With Multi-Users in Quantum Networks</vt:lpstr>
      <vt:lpstr>Any Queries?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MNJ 7</dc:creator>
  <cp:lastModifiedBy>MOHAMMAD TAZU</cp:lastModifiedBy>
  <cp:revision>12</cp:revision>
  <dcterms:created xsi:type="dcterms:W3CDTF">2025-10-10T17:23:28Z</dcterms:created>
  <dcterms:modified xsi:type="dcterms:W3CDTF">2025-12-08T01:58:10Z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2025-10-10T00:00:00Z</vt:filetime>
  </property>
</Properties>
</file>